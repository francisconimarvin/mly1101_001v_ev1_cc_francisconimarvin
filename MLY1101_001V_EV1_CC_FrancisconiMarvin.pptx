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et Bold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Aileron" charset="1" panose="00000500000000000000"/>
      <p:regular r:id="rId16"/>
    </p:embeddedFont>
    <p:embeddedFont>
      <p:font typeface="Aileron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drive.google.com/file/d/1zQi0lhcspDj4LxcsqyViOSe-uW-2Zj53/view?usp=sharing" TargetMode="External" Type="http://schemas.openxmlformats.org/officeDocument/2006/relationships/hyperlink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2273" y="1205328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22279" y="-1678670"/>
            <a:ext cx="13306457" cy="1330645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85484" y="3233724"/>
            <a:ext cx="3024301" cy="3859317"/>
          </a:xfrm>
          <a:custGeom>
            <a:avLst/>
            <a:gdLst/>
            <a:ahLst/>
            <a:cxnLst/>
            <a:rect r="r" b="b" t="t" l="l"/>
            <a:pathLst>
              <a:path h="3859317" w="3024301">
                <a:moveTo>
                  <a:pt x="0" y="0"/>
                </a:moveTo>
                <a:lnTo>
                  <a:pt x="3024302" y="0"/>
                </a:lnTo>
                <a:lnTo>
                  <a:pt x="3024302" y="3859318"/>
                </a:lnTo>
                <a:lnTo>
                  <a:pt x="0" y="38593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04173" y="6406434"/>
            <a:ext cx="1885476" cy="1213561"/>
          </a:xfrm>
          <a:custGeom>
            <a:avLst/>
            <a:gdLst/>
            <a:ahLst/>
            <a:cxnLst/>
            <a:rect r="r" b="b" t="t" l="l"/>
            <a:pathLst>
              <a:path h="1213561" w="1885476">
                <a:moveTo>
                  <a:pt x="0" y="0"/>
                </a:moveTo>
                <a:lnTo>
                  <a:pt x="1885477" y="0"/>
                </a:lnTo>
                <a:lnTo>
                  <a:pt x="1885477" y="1213561"/>
                </a:lnTo>
                <a:lnTo>
                  <a:pt x="0" y="1213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652" y="2595156"/>
            <a:ext cx="12772360" cy="291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4"/>
              </a:lnSpc>
            </a:pPr>
            <a:r>
              <a:rPr lang="en-US" sz="836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Análisis exploratorio y </a:t>
            </a:r>
          </a:p>
          <a:p>
            <a:pPr algn="l">
              <a:lnSpc>
                <a:spcPts val="11704"/>
              </a:lnSpc>
            </a:pPr>
            <a:r>
              <a:rPr lang="en-US" sz="836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preparación de datos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7401" y="5602628"/>
            <a:ext cx="13267679" cy="137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0"/>
              </a:lnSpc>
            </a:pPr>
            <a:r>
              <a:rPr lang="en-US" sz="8029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Spotify Tracks - Caso 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56746" y="1207225"/>
            <a:ext cx="222383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Fluxware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87401" y="7385044"/>
            <a:ext cx="6024747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  <a:hlinkClick r:id="rId10" tooltip="https://drive.google.com/file/d/1zQi0lhcspDj4LxcsqyViOSe-uW-2Zj53/view?usp=sharing"/>
              </a:rPr>
              <a:t>MLY1101 001V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Marvin Francisconi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1214213" y="1028700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6" y="0"/>
                </a:lnTo>
                <a:lnTo>
                  <a:pt x="2428426" y="824816"/>
                </a:lnTo>
                <a:lnTo>
                  <a:pt x="0" y="8248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39571" y="1194562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62819" y="1545676"/>
            <a:ext cx="13306457" cy="1330645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94729" y="743057"/>
            <a:ext cx="10016598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Problema del negocio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24087" y="1171682"/>
            <a:ext cx="13154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Fluxware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50851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695155" y="0"/>
                </a:moveTo>
                <a:lnTo>
                  <a:pt x="0" y="0"/>
                </a:lnTo>
                <a:lnTo>
                  <a:pt x="0" y="775528"/>
                </a:lnTo>
                <a:lnTo>
                  <a:pt x="695155" y="775528"/>
                </a:lnTo>
                <a:lnTo>
                  <a:pt x="6951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6804" y="2467251"/>
            <a:ext cx="17834393" cy="8132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5052" indent="-332526" lvl="1">
              <a:lnSpc>
                <a:spcPts val="4312"/>
              </a:lnSpc>
              <a:buFont typeface="Arial"/>
              <a:buChar char="•"/>
            </a:pPr>
            <a:r>
              <a:rPr lang="en-US" b="true" sz="3080">
                <a:solidFill>
                  <a:srgbClr val="E8E6E3"/>
                </a:solidFill>
                <a:latin typeface="Aileron Bold"/>
                <a:ea typeface="Aileron Bold"/>
                <a:cs typeface="Aileron Bold"/>
                <a:sym typeface="Aileron Bold"/>
              </a:rPr>
              <a:t>Contexto.</a:t>
            </a:r>
          </a:p>
          <a:p>
            <a:pPr algn="l" marL="1330104" indent="-443368" lvl="2">
              <a:lnSpc>
                <a:spcPts val="4312"/>
              </a:lnSpc>
              <a:spcBef>
                <a:spcPct val="0"/>
              </a:spcBef>
              <a:buFont typeface="Arial"/>
              <a:buChar char="⚬"/>
            </a:pPr>
            <a:r>
              <a:rPr lang="en-US" sz="308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Una plataforma musical dispone de información sobre canciones y sus características musicales. A partir de estos datos, se busca identificar qué características pueden estar relacionadas con una mayor popularidad.</a:t>
            </a:r>
          </a:p>
          <a:p>
            <a:pPr algn="l" marL="665052" indent="-332526" lvl="1">
              <a:lnSpc>
                <a:spcPts val="431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8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Pregunta a responder:</a:t>
            </a:r>
            <a:r>
              <a:rPr lang="en-US" sz="308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308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¿Qué características de las canciones se relacionan con una mayor popularidad?</a:t>
            </a:r>
          </a:p>
          <a:p>
            <a:pPr algn="l" marL="665052" indent="-332526" lvl="1">
              <a:lnSpc>
                <a:spcPts val="431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8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Objetivo del análisis</a:t>
            </a:r>
          </a:p>
          <a:p>
            <a:pPr algn="l" marL="1330104" indent="-443368" lvl="2">
              <a:lnSpc>
                <a:spcPts val="4312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8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</a:t>
            </a:r>
            <a:r>
              <a:rPr lang="en-US" sz="308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dentificar patrones y características asociadas a la popularidad de las canciones, de manera que los resultados puedan utilizarse como apoyo para decidir qué canciones podrían ser buenas candidatas para recibir mayor promoción.</a:t>
            </a:r>
          </a:p>
          <a:p>
            <a:pPr algn="l" marL="665052" indent="-332526" lvl="1">
              <a:lnSpc>
                <a:spcPts val="431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8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KPI propuesto</a:t>
            </a:r>
          </a:p>
          <a:p>
            <a:pPr algn="l" marL="1330104" indent="-443368" lvl="2">
              <a:lnSpc>
                <a:spcPts val="4312"/>
              </a:lnSpc>
              <a:spcBef>
                <a:spcPct val="0"/>
              </a:spcBef>
              <a:buFont typeface="Arial"/>
              <a:buChar char="⚬"/>
            </a:pPr>
            <a:r>
              <a:rPr lang="en-US" sz="308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Popularidad promedio de las canciones (popularity)</a:t>
            </a:r>
          </a:p>
          <a:p>
            <a:pPr algn="l" marL="1330104" indent="-443368" lvl="2">
              <a:lnSpc>
                <a:spcPts val="4312"/>
              </a:lnSpc>
              <a:spcBef>
                <a:spcPct val="0"/>
              </a:spcBef>
              <a:buFont typeface="Arial"/>
              <a:buChar char="⚬"/>
            </a:pPr>
            <a:r>
              <a:rPr lang="en-US" sz="308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Escala de 0 a 100.</a:t>
            </a:r>
          </a:p>
          <a:p>
            <a:pPr algn="l">
              <a:lnSpc>
                <a:spcPts val="4312"/>
              </a:lnSpc>
              <a:spcBef>
                <a:spcPct val="0"/>
              </a:spcBef>
            </a:pPr>
          </a:p>
          <a:p>
            <a:pPr algn="l">
              <a:lnSpc>
                <a:spcPts val="43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5922" y="710228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963999" y="-6401825"/>
            <a:ext cx="13306457" cy="1330645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478493" y="6974840"/>
            <a:ext cx="2374342" cy="3248478"/>
          </a:xfrm>
          <a:custGeom>
            <a:avLst/>
            <a:gdLst/>
            <a:ahLst/>
            <a:cxnLst/>
            <a:rect r="r" b="b" t="t" l="l"/>
            <a:pathLst>
              <a:path h="3248478" w="2374342">
                <a:moveTo>
                  <a:pt x="0" y="0"/>
                </a:moveTo>
                <a:lnTo>
                  <a:pt x="2374342" y="0"/>
                </a:lnTo>
                <a:lnTo>
                  <a:pt x="2374342" y="3248478"/>
                </a:lnTo>
                <a:lnTo>
                  <a:pt x="0" y="32484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722216" y="7612524"/>
            <a:ext cx="1565784" cy="2674476"/>
          </a:xfrm>
          <a:custGeom>
            <a:avLst/>
            <a:gdLst/>
            <a:ahLst/>
            <a:cxnLst/>
            <a:rect r="r" b="b" t="t" l="l"/>
            <a:pathLst>
              <a:path h="2674476" w="1565784">
                <a:moveTo>
                  <a:pt x="0" y="0"/>
                </a:moveTo>
                <a:lnTo>
                  <a:pt x="1565784" y="0"/>
                </a:lnTo>
                <a:lnTo>
                  <a:pt x="1565784" y="2674476"/>
                </a:lnTo>
                <a:lnTo>
                  <a:pt x="0" y="26744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36432" y="401297"/>
            <a:ext cx="14174226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Comprensión de datos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7023" y="712126"/>
            <a:ext cx="19039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Fluxware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911722" y="640936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6" y="0"/>
                </a:lnTo>
                <a:lnTo>
                  <a:pt x="695156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60010" y="1359314"/>
            <a:ext cx="12629880" cy="9216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4636" indent="-297318" lvl="1">
              <a:lnSpc>
                <a:spcPts val="385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54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Fuente y unidad de observación</a:t>
            </a:r>
          </a:p>
          <a:p>
            <a:pPr algn="just" marL="1189271" indent="-396424" lvl="2">
              <a:lnSpc>
                <a:spcPts val="3855"/>
              </a:lnSpc>
              <a:spcBef>
                <a:spcPct val="0"/>
              </a:spcBef>
              <a:buFont typeface="Arial"/>
              <a:buChar char="⚬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Fuente: Spotify Tracks — Caso C</a:t>
            </a:r>
          </a:p>
          <a:p>
            <a:pPr algn="just">
              <a:lnSpc>
                <a:spcPts val="3855"/>
              </a:lnSpc>
              <a:spcBef>
                <a:spcPct val="0"/>
              </a:spcBef>
            </a:pPr>
          </a:p>
          <a:p>
            <a:pPr algn="just" marL="594636" indent="-297318" lvl="1">
              <a:lnSpc>
                <a:spcPts val="3855"/>
              </a:lnSpc>
              <a:spcBef>
                <a:spcPct val="0"/>
              </a:spcBef>
              <a:buFont typeface="Arial"/>
              <a:buChar char="•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 Unidad de observación: cada fila representa una canción.</a:t>
            </a:r>
          </a:p>
          <a:p>
            <a:pPr algn="just" marL="1189271" indent="-396424" lvl="2">
              <a:lnSpc>
                <a:spcPts val="3855"/>
              </a:lnSpc>
              <a:spcBef>
                <a:spcPct val="0"/>
              </a:spcBef>
              <a:buFont typeface="Arial"/>
              <a:buChar char="⚬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Dimensiones del dataset</a:t>
            </a:r>
          </a:p>
          <a:p>
            <a:pPr algn="just" marL="1783907" indent="-445977" lvl="3">
              <a:lnSpc>
                <a:spcPts val="3855"/>
              </a:lnSpc>
              <a:spcBef>
                <a:spcPct val="0"/>
              </a:spcBef>
              <a:buFont typeface="Arial"/>
              <a:buChar char="￭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114.000 registros</a:t>
            </a:r>
          </a:p>
          <a:p>
            <a:pPr algn="just" marL="1783907" indent="-445977" lvl="3">
              <a:lnSpc>
                <a:spcPts val="3855"/>
              </a:lnSpc>
              <a:spcBef>
                <a:spcPct val="0"/>
              </a:spcBef>
              <a:buFont typeface="Arial"/>
              <a:buChar char="￭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21 variables</a:t>
            </a:r>
          </a:p>
          <a:p>
            <a:pPr algn="just">
              <a:lnSpc>
                <a:spcPts val="3855"/>
              </a:lnSpc>
              <a:spcBef>
                <a:spcPct val="0"/>
              </a:spcBef>
            </a:pPr>
          </a:p>
          <a:p>
            <a:pPr algn="just" marL="594636" indent="-297318" lvl="1">
              <a:lnSpc>
                <a:spcPts val="3855"/>
              </a:lnSpc>
              <a:spcBef>
                <a:spcPct val="0"/>
              </a:spcBef>
              <a:buFont typeface="Arial"/>
              <a:buChar char="•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Variable objetivo</a:t>
            </a:r>
          </a:p>
          <a:p>
            <a:pPr algn="just" marL="1189271" indent="-396424" lvl="2">
              <a:lnSpc>
                <a:spcPts val="3855"/>
              </a:lnSpc>
              <a:spcBef>
                <a:spcPct val="0"/>
              </a:spcBef>
              <a:buFont typeface="Arial"/>
              <a:buChar char="⚬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popularity</a:t>
            </a:r>
          </a:p>
          <a:p>
            <a:pPr algn="just" marL="1189271" indent="-396424" lvl="2">
              <a:lnSpc>
                <a:spcPts val="3855"/>
              </a:lnSpc>
              <a:spcBef>
                <a:spcPct val="0"/>
              </a:spcBef>
              <a:buFont typeface="Arial"/>
              <a:buChar char="⚬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Indica la popularidad de cada canción en una escala de 0 a 100.</a:t>
            </a:r>
          </a:p>
          <a:p>
            <a:pPr algn="just">
              <a:lnSpc>
                <a:spcPts val="3855"/>
              </a:lnSpc>
              <a:spcBef>
                <a:spcPct val="0"/>
              </a:spcBef>
            </a:pPr>
          </a:p>
          <a:p>
            <a:pPr algn="just" marL="594636" indent="-297318" lvl="1">
              <a:lnSpc>
                <a:spcPts val="3855"/>
              </a:lnSpc>
              <a:spcBef>
                <a:spcPct val="0"/>
              </a:spcBef>
              <a:buFont typeface="Arial"/>
              <a:buChar char="•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Variables relevantes</a:t>
            </a:r>
          </a:p>
          <a:p>
            <a:pPr algn="just" marL="1189271" indent="-396424" lvl="2">
              <a:lnSpc>
                <a:spcPts val="3855"/>
              </a:lnSpc>
              <a:spcBef>
                <a:spcPct val="0"/>
              </a:spcBef>
              <a:buFont typeface="Arial"/>
              <a:buChar char="⚬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Información de canción: track_id, artists, album_name, track_name</a:t>
            </a:r>
          </a:p>
          <a:p>
            <a:pPr algn="just" marL="1189274" indent="-396425" lvl="2">
              <a:lnSpc>
                <a:spcPts val="3855"/>
              </a:lnSpc>
              <a:spcBef>
                <a:spcPct val="0"/>
              </a:spcBef>
              <a:buFont typeface="Arial"/>
              <a:buChar char="⚬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Características musicales: danceability, energy, loudness, speechiness, acousticness, instrumentalness, liveness, valence</a:t>
            </a:r>
          </a:p>
          <a:p>
            <a:pPr algn="just" marL="1189271" indent="-396424" lvl="2">
              <a:lnSpc>
                <a:spcPts val="3855"/>
              </a:lnSpc>
              <a:spcBef>
                <a:spcPct val="0"/>
              </a:spcBef>
              <a:buFont typeface="Arial"/>
              <a:buChar char="⚬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Estructura musical: key, mode, tempo, time_signature</a:t>
            </a:r>
          </a:p>
          <a:p>
            <a:pPr algn="just" marL="1189271" indent="-396424" lvl="2">
              <a:lnSpc>
                <a:spcPts val="3855"/>
              </a:lnSpc>
              <a:spcBef>
                <a:spcPct val="0"/>
              </a:spcBef>
              <a:buFont typeface="Arial"/>
              <a:buChar char="⚬"/>
            </a:pPr>
            <a:r>
              <a:rPr lang="en-US" sz="2754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Otros: duration_ms, explicit, track_genre</a:t>
            </a:r>
          </a:p>
          <a:p>
            <a:pPr algn="just">
              <a:lnSpc>
                <a:spcPts val="385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4734" y="-1821184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94759" y="7600693"/>
            <a:ext cx="2293241" cy="2689302"/>
          </a:xfrm>
          <a:custGeom>
            <a:avLst/>
            <a:gdLst/>
            <a:ahLst/>
            <a:cxnLst/>
            <a:rect r="r" b="b" t="t" l="l"/>
            <a:pathLst>
              <a:path h="2689302" w="2293241">
                <a:moveTo>
                  <a:pt x="0" y="0"/>
                </a:moveTo>
                <a:lnTo>
                  <a:pt x="2293241" y="0"/>
                </a:lnTo>
                <a:lnTo>
                  <a:pt x="2293241" y="2689303"/>
                </a:lnTo>
                <a:lnTo>
                  <a:pt x="0" y="2689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0536" y="677553"/>
            <a:ext cx="346907" cy="387802"/>
          </a:xfrm>
          <a:custGeom>
            <a:avLst/>
            <a:gdLst/>
            <a:ahLst/>
            <a:cxnLst/>
            <a:rect r="r" b="b" t="t" l="l"/>
            <a:pathLst>
              <a:path h="387802" w="346907">
                <a:moveTo>
                  <a:pt x="0" y="0"/>
                </a:moveTo>
                <a:lnTo>
                  <a:pt x="346906" y="0"/>
                </a:lnTo>
                <a:lnTo>
                  <a:pt x="346906" y="387802"/>
                </a:lnTo>
                <a:lnTo>
                  <a:pt x="0" y="387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9175" y="1804228"/>
            <a:ext cx="4551877" cy="8325755"/>
          </a:xfrm>
          <a:custGeom>
            <a:avLst/>
            <a:gdLst/>
            <a:ahLst/>
            <a:cxnLst/>
            <a:rect r="r" b="b" t="t" l="l"/>
            <a:pathLst>
              <a:path h="8325755" w="4551877">
                <a:moveTo>
                  <a:pt x="0" y="0"/>
                </a:moveTo>
                <a:lnTo>
                  <a:pt x="4551877" y="0"/>
                </a:lnTo>
                <a:lnTo>
                  <a:pt x="4551877" y="8325755"/>
                </a:lnTo>
                <a:lnTo>
                  <a:pt x="0" y="83257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72620" y="3018178"/>
            <a:ext cx="6815515" cy="2663205"/>
          </a:xfrm>
          <a:custGeom>
            <a:avLst/>
            <a:gdLst/>
            <a:ahLst/>
            <a:cxnLst/>
            <a:rect r="r" b="b" t="t" l="l"/>
            <a:pathLst>
              <a:path h="2663205" w="6815515">
                <a:moveTo>
                  <a:pt x="0" y="0"/>
                </a:moveTo>
                <a:lnTo>
                  <a:pt x="6815515" y="0"/>
                </a:lnTo>
                <a:lnTo>
                  <a:pt x="6815515" y="2663205"/>
                </a:lnTo>
                <a:lnTo>
                  <a:pt x="0" y="26632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69163" y="6517331"/>
            <a:ext cx="9523289" cy="1536014"/>
          </a:xfrm>
          <a:custGeom>
            <a:avLst/>
            <a:gdLst/>
            <a:ahLst/>
            <a:cxnLst/>
            <a:rect r="r" b="b" t="t" l="l"/>
            <a:pathLst>
              <a:path h="1536014" w="9523289">
                <a:moveTo>
                  <a:pt x="0" y="0"/>
                </a:moveTo>
                <a:lnTo>
                  <a:pt x="9523289" y="0"/>
                </a:lnTo>
                <a:lnTo>
                  <a:pt x="9523289" y="1536014"/>
                </a:lnTo>
                <a:lnTo>
                  <a:pt x="0" y="15360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79418" y="8302500"/>
            <a:ext cx="12290631" cy="794451"/>
          </a:xfrm>
          <a:custGeom>
            <a:avLst/>
            <a:gdLst/>
            <a:ahLst/>
            <a:cxnLst/>
            <a:rect r="r" b="b" t="t" l="l"/>
            <a:pathLst>
              <a:path h="794451" w="12290631">
                <a:moveTo>
                  <a:pt x="0" y="0"/>
                </a:moveTo>
                <a:lnTo>
                  <a:pt x="12290631" y="0"/>
                </a:lnTo>
                <a:lnTo>
                  <a:pt x="12290631" y="794451"/>
                </a:lnTo>
                <a:lnTo>
                  <a:pt x="0" y="7944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417004" y="3446520"/>
            <a:ext cx="1756578" cy="639273"/>
            <a:chOff x="0" y="0"/>
            <a:chExt cx="1465663" cy="53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5663" cy="533400"/>
            </a:xfrm>
            <a:custGeom>
              <a:avLst/>
              <a:gdLst/>
              <a:ahLst/>
              <a:cxnLst/>
              <a:rect r="r" b="b" t="t" l="l"/>
              <a:pathLst>
                <a:path h="533400" w="1465663">
                  <a:moveTo>
                    <a:pt x="273050" y="0"/>
                  </a:moveTo>
                  <a:lnTo>
                    <a:pt x="0" y="266700"/>
                  </a:lnTo>
                  <a:lnTo>
                    <a:pt x="273050" y="533400"/>
                  </a:lnTo>
                  <a:lnTo>
                    <a:pt x="273050" y="400050"/>
                  </a:lnTo>
                  <a:lnTo>
                    <a:pt x="1192613" y="400050"/>
                  </a:lnTo>
                  <a:lnTo>
                    <a:pt x="1192613" y="533400"/>
                  </a:lnTo>
                  <a:lnTo>
                    <a:pt x="1465663" y="266700"/>
                  </a:lnTo>
                  <a:lnTo>
                    <a:pt x="1192613" y="0"/>
                  </a:lnTo>
                  <a:lnTo>
                    <a:pt x="1192613" y="133350"/>
                  </a:lnTo>
                  <a:lnTo>
                    <a:pt x="273050" y="133350"/>
                  </a:lnTo>
                  <a:lnTo>
                    <a:pt x="273050" y="0"/>
                  </a:lnTo>
                  <a:close/>
                </a:path>
              </a:pathLst>
            </a:custGeom>
            <a:solidFill>
              <a:srgbClr val="E30B2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92075"/>
              <a:ext cx="1262463" cy="301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52626" y="240928"/>
            <a:ext cx="10506086" cy="1376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8"/>
              </a:lnSpc>
            </a:pPr>
            <a:r>
              <a:rPr lang="en-US" sz="8438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Calidad de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0861" y="694150"/>
            <a:ext cx="2102840" cy="371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2208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Fluxware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94190" y="4019118"/>
            <a:ext cx="2402205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Una sola fila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03759" y="5862358"/>
            <a:ext cx="8654097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Track_ID Duplicado != Fila entera duplicada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95123" y="9030276"/>
            <a:ext cx="587136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Solo eliminar filas duplicadas.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77413" y="1169518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0508" y="556673"/>
            <a:ext cx="6495337" cy="5166745"/>
          </a:xfrm>
          <a:custGeom>
            <a:avLst/>
            <a:gdLst/>
            <a:ahLst/>
            <a:cxnLst/>
            <a:rect r="r" b="b" t="t" l="l"/>
            <a:pathLst>
              <a:path h="5166745" w="6495337">
                <a:moveTo>
                  <a:pt x="0" y="0"/>
                </a:moveTo>
                <a:lnTo>
                  <a:pt x="6495337" y="0"/>
                </a:lnTo>
                <a:lnTo>
                  <a:pt x="6495337" y="5166746"/>
                </a:lnTo>
                <a:lnTo>
                  <a:pt x="0" y="51667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98178" y="556673"/>
            <a:ext cx="6495337" cy="5166745"/>
          </a:xfrm>
          <a:custGeom>
            <a:avLst/>
            <a:gdLst/>
            <a:ahLst/>
            <a:cxnLst/>
            <a:rect r="r" b="b" t="t" l="l"/>
            <a:pathLst>
              <a:path h="5166745" w="6495337">
                <a:moveTo>
                  <a:pt x="0" y="0"/>
                </a:moveTo>
                <a:lnTo>
                  <a:pt x="6495337" y="0"/>
                </a:lnTo>
                <a:lnTo>
                  <a:pt x="6495337" y="5166746"/>
                </a:lnTo>
                <a:lnTo>
                  <a:pt x="0" y="51667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01415" y="5723419"/>
            <a:ext cx="6138268" cy="4563581"/>
          </a:xfrm>
          <a:custGeom>
            <a:avLst/>
            <a:gdLst/>
            <a:ahLst/>
            <a:cxnLst/>
            <a:rect r="r" b="b" t="t" l="l"/>
            <a:pathLst>
              <a:path h="4563581" w="6138268">
                <a:moveTo>
                  <a:pt x="0" y="0"/>
                </a:moveTo>
                <a:lnTo>
                  <a:pt x="6138268" y="0"/>
                </a:lnTo>
                <a:lnTo>
                  <a:pt x="6138268" y="4563581"/>
                </a:lnTo>
                <a:lnTo>
                  <a:pt x="0" y="4563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406265" y="7549515"/>
            <a:ext cx="111442" cy="108585"/>
            <a:chOff x="0" y="0"/>
            <a:chExt cx="148590" cy="1447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48446" y="48830"/>
              <a:ext cx="48074" cy="40090"/>
            </a:xfrm>
            <a:custGeom>
              <a:avLst/>
              <a:gdLst/>
              <a:ahLst/>
              <a:cxnLst/>
              <a:rect r="r" b="b" t="t" l="l"/>
              <a:pathLst>
                <a:path h="40090" w="48074">
                  <a:moveTo>
                    <a:pt x="48074" y="14670"/>
                  </a:moveTo>
                  <a:cubicBezTo>
                    <a:pt x="26484" y="47690"/>
                    <a:pt x="6164" y="41340"/>
                    <a:pt x="2354" y="34990"/>
                  </a:cubicBezTo>
                  <a:cubicBezTo>
                    <a:pt x="-2726" y="27370"/>
                    <a:pt x="1084" y="7050"/>
                    <a:pt x="7434" y="1970"/>
                  </a:cubicBezTo>
                  <a:cubicBezTo>
                    <a:pt x="15054" y="-3110"/>
                    <a:pt x="41724" y="3240"/>
                    <a:pt x="41724" y="3240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11" id="11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457220" y="6673616"/>
            <a:ext cx="4060487" cy="1968968"/>
          </a:xfrm>
          <a:custGeom>
            <a:avLst/>
            <a:gdLst/>
            <a:ahLst/>
            <a:cxnLst/>
            <a:rect r="r" b="b" t="t" l="l"/>
            <a:pathLst>
              <a:path h="1968968" w="4060487">
                <a:moveTo>
                  <a:pt x="0" y="0"/>
                </a:moveTo>
                <a:lnTo>
                  <a:pt x="4060488" y="0"/>
                </a:lnTo>
                <a:lnTo>
                  <a:pt x="4060488" y="1968968"/>
                </a:lnTo>
                <a:lnTo>
                  <a:pt x="0" y="1968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2671" r="0" b="-4355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973497" y="6125326"/>
            <a:ext cx="672477" cy="188293"/>
          </a:xfrm>
          <a:custGeom>
            <a:avLst/>
            <a:gdLst/>
            <a:ahLst/>
            <a:cxnLst/>
            <a:rect r="r" b="b" t="t" l="l"/>
            <a:pathLst>
              <a:path h="188293" w="672477">
                <a:moveTo>
                  <a:pt x="0" y="0"/>
                </a:moveTo>
                <a:lnTo>
                  <a:pt x="672477" y="0"/>
                </a:lnTo>
                <a:lnTo>
                  <a:pt x="672477" y="188293"/>
                </a:lnTo>
                <a:lnTo>
                  <a:pt x="0" y="1882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344693" y="-10645"/>
            <a:ext cx="6233850" cy="56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3"/>
              </a:lnSpc>
            </a:pPr>
            <a:r>
              <a:rPr lang="en-US" sz="3295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Hallazgos exploratorios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3938" y="6677426"/>
            <a:ext cx="3579887" cy="1792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4"/>
              </a:lnSpc>
              <a:spcBef>
                <a:spcPct val="0"/>
              </a:spcBef>
            </a:pPr>
            <a:r>
              <a:rPr lang="en-US" sz="171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171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n este caso se puede observar una relación un poco más definida. La mayoría de los datos están concentrados entre 0 y aproximadamente 0,15 × 10⁶ milisegundos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04683" y="3063431"/>
            <a:ext cx="93495" cy="91098"/>
            <a:chOff x="0" y="0"/>
            <a:chExt cx="148590" cy="1447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446" y="48830"/>
              <a:ext cx="48074" cy="40090"/>
            </a:xfrm>
            <a:custGeom>
              <a:avLst/>
              <a:gdLst/>
              <a:ahLst/>
              <a:cxnLst/>
              <a:rect r="r" b="b" t="t" l="l"/>
              <a:pathLst>
                <a:path h="40090" w="48074">
                  <a:moveTo>
                    <a:pt x="48074" y="14670"/>
                  </a:moveTo>
                  <a:cubicBezTo>
                    <a:pt x="26484" y="47690"/>
                    <a:pt x="6164" y="41340"/>
                    <a:pt x="2354" y="34990"/>
                  </a:cubicBezTo>
                  <a:cubicBezTo>
                    <a:pt x="-2726" y="27370"/>
                    <a:pt x="1084" y="7050"/>
                    <a:pt x="7434" y="1970"/>
                  </a:cubicBezTo>
                  <a:cubicBezTo>
                    <a:pt x="15054" y="-3110"/>
                    <a:pt x="41724" y="3240"/>
                    <a:pt x="41724" y="3240"/>
                  </a:cubicBezTo>
                </a:path>
              </a:pathLst>
            </a:custGeom>
            <a:solidFill>
              <a:srgbClr val="0571D3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6466572" y="1655595"/>
            <a:ext cx="3159863" cy="1498934"/>
          </a:xfrm>
          <a:custGeom>
            <a:avLst/>
            <a:gdLst/>
            <a:ahLst/>
            <a:cxnLst/>
            <a:rect r="r" b="b" t="t" l="l"/>
            <a:pathLst>
              <a:path h="1498934" w="3159863">
                <a:moveTo>
                  <a:pt x="0" y="0"/>
                </a:moveTo>
                <a:lnTo>
                  <a:pt x="3159863" y="0"/>
                </a:lnTo>
                <a:lnTo>
                  <a:pt x="3159863" y="1498934"/>
                </a:lnTo>
                <a:lnTo>
                  <a:pt x="0" y="14989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6287" r="0" b="-4452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747224" y="2921848"/>
            <a:ext cx="721972" cy="202152"/>
          </a:xfrm>
          <a:custGeom>
            <a:avLst/>
            <a:gdLst/>
            <a:ahLst/>
            <a:cxnLst/>
            <a:rect r="r" b="b" t="t" l="l"/>
            <a:pathLst>
              <a:path h="202152" w="721972">
                <a:moveTo>
                  <a:pt x="0" y="0"/>
                </a:moveTo>
                <a:lnTo>
                  <a:pt x="721972" y="0"/>
                </a:lnTo>
                <a:lnTo>
                  <a:pt x="721972" y="202152"/>
                </a:lnTo>
                <a:lnTo>
                  <a:pt x="0" y="2021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544820" y="1766128"/>
            <a:ext cx="3003367" cy="1610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9"/>
              </a:lnSpc>
              <a:spcBef>
                <a:spcPct val="0"/>
              </a:spcBef>
            </a:pPr>
            <a:r>
              <a:rPr lang="en-US" sz="183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183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 puede observar, de forma ligera, que las canciones no explícitas son más populares que las explícitas. </a:t>
            </a:r>
          </a:p>
          <a:p>
            <a:pPr algn="just">
              <a:lnSpc>
                <a:spcPts val="2569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1282583" y="7186619"/>
            <a:ext cx="6781873" cy="128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4"/>
              </a:lnSpc>
              <a:spcBef>
                <a:spcPct val="0"/>
              </a:spcBef>
            </a:pPr>
            <a:r>
              <a:rPr lang="en-US" sz="183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1832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cá sí aparece una diferencia mucho más clara. pop-film y k-pop destacan sobre el resto, seguidos por chill y sad, formando esa pequeña escalera que mencionas. Desde ahí hacia abajo, las diferencias entre géneros son bastante menores.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1107218" y="6979139"/>
            <a:ext cx="7132603" cy="1740026"/>
          </a:xfrm>
          <a:custGeom>
            <a:avLst/>
            <a:gdLst/>
            <a:ahLst/>
            <a:cxnLst/>
            <a:rect r="r" b="b" t="t" l="l"/>
            <a:pathLst>
              <a:path h="1740026" w="7132603">
                <a:moveTo>
                  <a:pt x="0" y="0"/>
                </a:moveTo>
                <a:lnTo>
                  <a:pt x="7132603" y="0"/>
                </a:lnTo>
                <a:lnTo>
                  <a:pt x="7132603" y="1740026"/>
                </a:lnTo>
                <a:lnTo>
                  <a:pt x="0" y="17400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23344" r="0" b="-86569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10800000">
            <a:off x="10946345" y="8884808"/>
            <a:ext cx="672477" cy="188293"/>
          </a:xfrm>
          <a:custGeom>
            <a:avLst/>
            <a:gdLst/>
            <a:ahLst/>
            <a:cxnLst/>
            <a:rect r="r" b="b" t="t" l="l"/>
            <a:pathLst>
              <a:path h="188293" w="672477">
                <a:moveTo>
                  <a:pt x="0" y="0"/>
                </a:moveTo>
                <a:lnTo>
                  <a:pt x="672476" y="0"/>
                </a:lnTo>
                <a:lnTo>
                  <a:pt x="672476" y="188293"/>
                </a:lnTo>
                <a:lnTo>
                  <a:pt x="0" y="1882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51288" y="812026"/>
            <a:ext cx="4370331" cy="2288464"/>
          </a:xfrm>
          <a:custGeom>
            <a:avLst/>
            <a:gdLst/>
            <a:ahLst/>
            <a:cxnLst/>
            <a:rect r="r" b="b" t="t" l="l"/>
            <a:pathLst>
              <a:path h="2288464" w="4370331">
                <a:moveTo>
                  <a:pt x="0" y="0"/>
                </a:moveTo>
                <a:lnTo>
                  <a:pt x="4370331" y="0"/>
                </a:lnTo>
                <a:lnTo>
                  <a:pt x="4370331" y="2288464"/>
                </a:lnTo>
                <a:lnTo>
                  <a:pt x="0" y="2288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7471" y="9373"/>
            <a:ext cx="11229234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Preparación de datos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562469" y="460879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8" y="0"/>
                </a:lnTo>
                <a:lnTo>
                  <a:pt x="314088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3570" y="462776"/>
            <a:ext cx="19039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Fluxware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2857" y="1658190"/>
            <a:ext cx="13521749" cy="760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730" indent="-275365" lvl="1">
              <a:lnSpc>
                <a:spcPts val="3571"/>
              </a:lnSpc>
              <a:spcBef>
                <a:spcPct val="0"/>
              </a:spcBef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Dataset original</a:t>
            </a:r>
          </a:p>
          <a:p>
            <a:pPr algn="l" marL="1101460" indent="-367153" lvl="2">
              <a:lnSpc>
                <a:spcPts val="3571"/>
              </a:lnSpc>
              <a:spcBef>
                <a:spcPct val="0"/>
              </a:spcBef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114.000 registros × 21 variables</a:t>
            </a:r>
          </a:p>
          <a:p>
            <a:pPr algn="l" marL="550730" indent="-275365" lvl="1">
              <a:lnSpc>
                <a:spcPts val="3571"/>
              </a:lnSpc>
              <a:spcBef>
                <a:spcPct val="0"/>
              </a:spcBef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Transformaciones realizadas</a:t>
            </a:r>
          </a:p>
          <a:p>
            <a:pPr algn="l" marL="1101460" indent="-367153" lvl="2">
              <a:lnSpc>
                <a:spcPts val="3571"/>
              </a:lnSpc>
              <a:spcBef>
                <a:spcPct val="0"/>
              </a:spcBef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 eliminó la fila que contenía los 3 valores nulos.</a:t>
            </a:r>
          </a:p>
          <a:p>
            <a:pPr algn="l" marL="1101460" indent="-367153" lvl="2">
              <a:lnSpc>
                <a:spcPts val="3571"/>
              </a:lnSpc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 eliminó la columna Unnamed: 0, correspondiente a un índice redundante.</a:t>
            </a:r>
          </a:p>
          <a:p>
            <a:pPr algn="l" marL="1101460" indent="-367153" lvl="2">
              <a:lnSpc>
                <a:spcPts val="3571"/>
              </a:lnSpc>
              <a:spcBef>
                <a:spcPct val="0"/>
              </a:spcBef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 eliminaron 450 filas completamente duplicadas.</a:t>
            </a:r>
          </a:p>
          <a:p>
            <a:pPr algn="l" marL="1101460" indent="-367153" lvl="2">
              <a:lnSpc>
                <a:spcPts val="3571"/>
              </a:lnSpc>
              <a:spcBef>
                <a:spcPct val="0"/>
              </a:spcBef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 conservaron los track_id repetidos cuando representaban registros asociados a distintos géneros.</a:t>
            </a:r>
          </a:p>
          <a:p>
            <a:pPr algn="l" marL="1101460" indent="-367153" lvl="2">
              <a:lnSpc>
                <a:spcPts val="3571"/>
              </a:lnSpc>
              <a:spcBef>
                <a:spcPct val="0"/>
              </a:spcBef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 validaron los rangos de las variables y no se encontraron valores fuera de los límites esperados.</a:t>
            </a:r>
          </a:p>
          <a:p>
            <a:pPr algn="l" marL="1101460" indent="-367153" lvl="2">
              <a:lnSpc>
                <a:spcPts val="3571"/>
              </a:lnSpc>
              <a:spcBef>
                <a:spcPct val="0"/>
              </a:spcBef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Los valores extremos identificados fueron revisados y no se eliminaron cuando correspondían a casos válidos, como DJ mixes o canciones de larga duración.</a:t>
            </a:r>
          </a:p>
          <a:p>
            <a:pPr algn="l" marL="550730" indent="-275365" lvl="1">
              <a:lnSpc>
                <a:spcPts val="3571"/>
              </a:lnSpc>
              <a:spcBef>
                <a:spcPct val="0"/>
              </a:spcBef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Resultado final</a:t>
            </a:r>
          </a:p>
          <a:p>
            <a:pPr algn="l" marL="1101460" indent="-367153" lvl="2">
              <a:lnSpc>
                <a:spcPts val="3571"/>
              </a:lnSpc>
              <a:spcBef>
                <a:spcPct val="0"/>
              </a:spcBef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113.549 registros × 20 variables</a:t>
            </a:r>
          </a:p>
          <a:p>
            <a:pPr algn="l" marL="550730" indent="-275365" lvl="1">
              <a:lnSpc>
                <a:spcPts val="3571"/>
              </a:lnSpc>
              <a:spcBef>
                <a:spcPct val="0"/>
              </a:spcBef>
              <a:buFont typeface="Arial"/>
              <a:buChar char="•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Conclusión</a:t>
            </a:r>
          </a:p>
          <a:p>
            <a:pPr algn="l" marL="1101460" indent="-367153" lvl="2">
              <a:lnSpc>
                <a:spcPts val="3571"/>
              </a:lnSpc>
              <a:spcBef>
                <a:spcPct val="0"/>
              </a:spcBef>
              <a:buFont typeface="Arial"/>
              <a:buChar char="⚬"/>
            </a:pPr>
            <a:r>
              <a:rPr lang="en-US" sz="255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El dataset preparado conserva los registros válidos y elimina los problemas de calidad identificados durante el análisis.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48279" y="-201425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51257" y="6979197"/>
            <a:ext cx="4508987" cy="6850670"/>
          </a:xfrm>
          <a:custGeom>
            <a:avLst/>
            <a:gdLst/>
            <a:ahLst/>
            <a:cxnLst/>
            <a:rect r="r" b="b" t="t" l="l"/>
            <a:pathLst>
              <a:path h="6850670" w="4508987">
                <a:moveTo>
                  <a:pt x="0" y="0"/>
                </a:moveTo>
                <a:lnTo>
                  <a:pt x="4508986" y="0"/>
                </a:lnTo>
                <a:lnTo>
                  <a:pt x="4508986" y="6850670"/>
                </a:lnTo>
                <a:lnTo>
                  <a:pt x="0" y="68506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40548" y="244217"/>
            <a:ext cx="12800346" cy="106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Conclusiones y riesgos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16147" y="548394"/>
            <a:ext cx="314088" cy="351114"/>
          </a:xfrm>
          <a:custGeom>
            <a:avLst/>
            <a:gdLst/>
            <a:ahLst/>
            <a:cxnLst/>
            <a:rect r="r" b="b" t="t" l="l"/>
            <a:pathLst>
              <a:path h="351114" w="314088">
                <a:moveTo>
                  <a:pt x="0" y="0"/>
                </a:moveTo>
                <a:lnTo>
                  <a:pt x="314087" y="0"/>
                </a:lnTo>
                <a:lnTo>
                  <a:pt x="314087" y="351114"/>
                </a:lnTo>
                <a:lnTo>
                  <a:pt x="0" y="351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87247" y="550291"/>
            <a:ext cx="19039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Fluxware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2788" y="1359314"/>
            <a:ext cx="16568934" cy="868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0701" indent="-280350" lvl="1">
              <a:lnSpc>
                <a:spcPts val="3635"/>
              </a:lnSpc>
              <a:spcBef>
                <a:spcPct val="0"/>
              </a:spcBef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Conclusiones</a:t>
            </a:r>
          </a:p>
          <a:p>
            <a:pPr algn="just" marL="1121402" indent="-373801" lvl="2">
              <a:lnSpc>
                <a:spcPts val="3635"/>
              </a:lnSpc>
              <a:spcBef>
                <a:spcPct val="0"/>
              </a:spcBef>
              <a:buFont typeface="Arial"/>
              <a:buChar char="⚬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El género musical presenta diferencias claras en la popularidad promedio.</a:t>
            </a:r>
          </a:p>
          <a:p>
            <a:pPr algn="just" marL="1121402" indent="-373801" lvl="2">
              <a:lnSpc>
                <a:spcPts val="3635"/>
              </a:lnSpc>
              <a:spcBef>
                <a:spcPct val="0"/>
              </a:spcBef>
              <a:buFont typeface="Arial"/>
              <a:buChar char="⚬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Las canciones no explícitas presentan una popularidad ligeramente mayor.</a:t>
            </a:r>
          </a:p>
          <a:p>
            <a:pPr algn="just" marL="1121402" indent="-373801" lvl="2">
              <a:lnSpc>
                <a:spcPts val="3635"/>
              </a:lnSpc>
              <a:spcBef>
                <a:spcPct val="0"/>
              </a:spcBef>
              <a:buFont typeface="Arial"/>
              <a:buChar char="⚬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Las canciones de mayor duración tienden a presentar menor popularidad.</a:t>
            </a:r>
          </a:p>
          <a:p>
            <a:pPr algn="just" marL="1121402" indent="-373801" lvl="2">
              <a:lnSpc>
                <a:spcPts val="3635"/>
              </a:lnSpc>
              <a:spcBef>
                <a:spcPct val="0"/>
              </a:spcBef>
              <a:buFont typeface="Arial"/>
              <a:buChar char="⚬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Estos resultados pueden servir como apoyo para decisiones de promoción.</a:t>
            </a:r>
          </a:p>
          <a:p>
            <a:pPr algn="just">
              <a:lnSpc>
                <a:spcPts val="3635"/>
              </a:lnSpc>
              <a:spcBef>
                <a:spcPct val="0"/>
              </a:spcBef>
            </a:pPr>
          </a:p>
          <a:p>
            <a:pPr algn="just" marL="560701" indent="-280350" lvl="1">
              <a:lnSpc>
                <a:spcPts val="3635"/>
              </a:lnSpc>
              <a:spcBef>
                <a:spcPct val="0"/>
              </a:spcBef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Riesgos y mitigaciones</a:t>
            </a:r>
          </a:p>
          <a:p>
            <a:pPr algn="just" marL="1121402" indent="-373801" lvl="2">
              <a:lnSpc>
                <a:spcPts val="3635"/>
              </a:lnSpc>
              <a:spcBef>
                <a:spcPct val="0"/>
              </a:spcBef>
              <a:buFont typeface="Arial"/>
              <a:buChar char="⚬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Sesgo por popularidad previa</a:t>
            </a:r>
          </a:p>
          <a:p>
            <a:pPr algn="just" marL="1682103" indent="-420526" lvl="3">
              <a:lnSpc>
                <a:spcPts val="3635"/>
              </a:lnSpc>
              <a:spcBef>
                <a:spcPct val="0"/>
              </a:spcBef>
              <a:buFont typeface="Arial"/>
              <a:buChar char="￭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La promoción basada principalmente en canciones populares puede generar un ciclo de mayor exposición y popularidad.</a:t>
            </a:r>
          </a:p>
          <a:p>
            <a:pPr algn="just" marL="2242804" indent="-448561" lvl="4">
              <a:lnSpc>
                <a:spcPts val="3635"/>
              </a:lnSpc>
              <a:spcBef>
                <a:spcPct val="0"/>
              </a:spcBef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Mitigación: combinar popularidad con otras características y dar oportunidades a canciones menos conocidas.</a:t>
            </a:r>
          </a:p>
          <a:p>
            <a:pPr algn="just" marL="1121402" indent="-373801" lvl="2">
              <a:lnSpc>
                <a:spcPts val="3635"/>
              </a:lnSpc>
              <a:spcBef>
                <a:spcPct val="0"/>
              </a:spcBef>
              <a:buFont typeface="Arial"/>
              <a:buChar char="⚬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Sesgo por género musical</a:t>
            </a:r>
          </a:p>
          <a:p>
            <a:pPr algn="just" marL="1682103" indent="-420526" lvl="3">
              <a:lnSpc>
                <a:spcPts val="3635"/>
              </a:lnSpc>
              <a:spcBef>
                <a:spcPct val="0"/>
              </a:spcBef>
              <a:buFont typeface="Arial"/>
              <a:buChar char="￭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Priorizar por popularidad puede favorecer géneros con mayor popularidad promedio.</a:t>
            </a:r>
          </a:p>
          <a:p>
            <a:pPr algn="just" marL="2242804" indent="-448561" lvl="4">
              <a:lnSpc>
                <a:spcPts val="3635"/>
              </a:lnSpc>
              <a:spcBef>
                <a:spcPct val="0"/>
              </a:spcBef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Mitigación: considerar distintos géneros y no utilizar la popularidad como único criterio.</a:t>
            </a:r>
          </a:p>
          <a:p>
            <a:pPr algn="just">
              <a:lnSpc>
                <a:spcPts val="3635"/>
              </a:lnSpc>
              <a:spcBef>
                <a:spcPct val="0"/>
              </a:spcBef>
            </a:pPr>
          </a:p>
          <a:p>
            <a:pPr algn="just" marL="560701" indent="-280350" lvl="1">
              <a:lnSpc>
                <a:spcPts val="3635"/>
              </a:lnSpc>
              <a:spcBef>
                <a:spcPct val="0"/>
              </a:spcBef>
              <a:buFont typeface="Arial"/>
              <a:buChar char="•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Uso responsable</a:t>
            </a:r>
          </a:p>
          <a:p>
            <a:pPr algn="just" marL="1121402" indent="-373801" lvl="2">
              <a:lnSpc>
                <a:spcPts val="3635"/>
              </a:lnSpc>
              <a:spcBef>
                <a:spcPct val="0"/>
              </a:spcBef>
              <a:buFont typeface="Arial"/>
              <a:buChar char="⚬"/>
            </a:pPr>
            <a:r>
              <a:rPr lang="en-US" sz="259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Los resultados deben utilizarse como apoyo a la toma de decisiones, evitando inferencias sobre características personales que no están presentes en los datos.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08678" y="7963240"/>
            <a:ext cx="11870644" cy="942009"/>
            <a:chOff x="0" y="0"/>
            <a:chExt cx="3126425" cy="248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6425" cy="248101"/>
            </a:xfrm>
            <a:custGeom>
              <a:avLst/>
              <a:gdLst/>
              <a:ahLst/>
              <a:cxnLst/>
              <a:rect r="r" b="b" t="t" l="l"/>
              <a:pathLst>
                <a:path h="248101" w="3126425">
                  <a:moveTo>
                    <a:pt x="65219" y="0"/>
                  </a:moveTo>
                  <a:lnTo>
                    <a:pt x="3061206" y="0"/>
                  </a:lnTo>
                  <a:cubicBezTo>
                    <a:pt x="3078503" y="0"/>
                    <a:pt x="3095092" y="6871"/>
                    <a:pt x="3107323" y="19102"/>
                  </a:cubicBezTo>
                  <a:cubicBezTo>
                    <a:pt x="3119553" y="31333"/>
                    <a:pt x="3126425" y="47922"/>
                    <a:pt x="3126425" y="65219"/>
                  </a:cubicBezTo>
                  <a:lnTo>
                    <a:pt x="3126425" y="182882"/>
                  </a:lnTo>
                  <a:cubicBezTo>
                    <a:pt x="3126425" y="200179"/>
                    <a:pt x="3119553" y="216768"/>
                    <a:pt x="3107323" y="228999"/>
                  </a:cubicBezTo>
                  <a:cubicBezTo>
                    <a:pt x="3095092" y="241230"/>
                    <a:pt x="3078503" y="248101"/>
                    <a:pt x="3061206" y="248101"/>
                  </a:cubicBezTo>
                  <a:lnTo>
                    <a:pt x="65219" y="248101"/>
                  </a:lnTo>
                  <a:cubicBezTo>
                    <a:pt x="47922" y="248101"/>
                    <a:pt x="31333" y="241230"/>
                    <a:pt x="19102" y="228999"/>
                  </a:cubicBezTo>
                  <a:cubicBezTo>
                    <a:pt x="6871" y="216768"/>
                    <a:pt x="0" y="200179"/>
                    <a:pt x="0" y="182882"/>
                  </a:cubicBezTo>
                  <a:lnTo>
                    <a:pt x="0" y="65219"/>
                  </a:lnTo>
                  <a:cubicBezTo>
                    <a:pt x="0" y="47922"/>
                    <a:pt x="6871" y="31333"/>
                    <a:pt x="19102" y="19102"/>
                  </a:cubicBezTo>
                  <a:cubicBezTo>
                    <a:pt x="31333" y="6871"/>
                    <a:pt x="47922" y="0"/>
                    <a:pt x="65219" y="0"/>
                  </a:cubicBezTo>
                  <a:close/>
                </a:path>
              </a:pathLst>
            </a:custGeom>
            <a:solidFill>
              <a:srgbClr val="FE654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26425" cy="295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302914"/>
            <a:ext cx="15180514" cy="296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17"/>
              </a:lnSpc>
            </a:pPr>
            <a:r>
              <a:rPr lang="en-US" sz="1736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¿Preguntas?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84638" y="8235808"/>
            <a:ext cx="1169468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https://github.com/francisconimarvin/MLY1101_001V_EV1_CC_FrancisconiMarvin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DAHU7Zfa-mM</dc:identifier>
  <dcterms:modified xsi:type="dcterms:W3CDTF">2011-08-01T06:04:30Z</dcterms:modified>
  <cp:revision>1</cp:revision>
  <dc:title>MLY1101_001V_EV1_CC_FrancisconiMarvin</dc:title>
</cp:coreProperties>
</file>